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d8867459db4dc3" /><Relationship Type="http://schemas.openxmlformats.org/officeDocument/2006/relationships/extended-properties" Target="/docProps/app.xml" Id="R90dda441e171441e" /><Relationship Type="http://schemas.openxmlformats.org/officeDocument/2006/relationships/officeDocument" Target="/ppt/presentation.xml" Id="R92fc005fdb494bc5" /></Relationships>
</file>

<file path=ppt/presentation.xml><?xml version="1.0" encoding="utf-8"?>
<p:presentation xmlns:p="http://schemas.openxmlformats.org/presentationml/2006/main">
  <p:sldMasterIdLst>
    <p:sldMasterId xmlns:r="http://schemas.openxmlformats.org/officeDocument/2006/relationships" id="2147483648" r:id="R4d191db9b8f54b07"/>
  </p:sldMasterIdLst>
  <p:notesMasterIdLst>
    <p:notesMasterId xmlns:r="http://schemas.openxmlformats.org/officeDocument/2006/relationships" r:id="Rf83147d1dca04574"/>
  </p:notesMasterIdLst>
  <p:sldIdLst>
    <p:sldId xmlns:r="http://schemas.openxmlformats.org/officeDocument/2006/relationships" id="256" r:id="R4169420d0ce848c7"/>
    <p:sldId xmlns:r="http://schemas.openxmlformats.org/officeDocument/2006/relationships" id="257" r:id="Rab1a3770531b4d34"/>
    <p:sldId xmlns:r="http://schemas.openxmlformats.org/officeDocument/2006/relationships" id="258" r:id="R56d76c572bc6487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4d191db9b8f54b07" /><Relationship Type="http://schemas.openxmlformats.org/officeDocument/2006/relationships/theme" Target="/ppt/theme/theme1.xml" Id="R3d31284ae8024801" /><Relationship Type="http://schemas.openxmlformats.org/officeDocument/2006/relationships/notesMaster" Target="/ppt/notesMasters/notesMaster1.xml" Id="Rf83147d1dca04574" /><Relationship Type="http://schemas.openxmlformats.org/officeDocument/2006/relationships/presProps" Target="/ppt/presProps.xml" Id="R0ab2ffc1c38d4ea7" /><Relationship Type="http://schemas.openxmlformats.org/officeDocument/2006/relationships/viewProps" Target="/ppt/viewProps.xml" Id="R5d65ce3cac764655" /><Relationship Type="http://schemas.openxmlformats.org/officeDocument/2006/relationships/tableStyles" Target="/ppt/tableStyles.xml" Id="R4ae06bb21a274d4c" /><Relationship Type="http://schemas.openxmlformats.org/officeDocument/2006/relationships/slide" Target="/ppt/slides/slide1.xml" Id="R4169420d0ce848c7" /><Relationship Type="http://schemas.openxmlformats.org/officeDocument/2006/relationships/slide" Target="/ppt/slides/slide2.xml" Id="Rab1a3770531b4d34" /><Relationship Type="http://schemas.openxmlformats.org/officeDocument/2006/relationships/slide" Target="/ppt/slides/slide3.xml" Id="R56d76c572bc648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cea6d4f64f947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668d7ab5014c77" /><Relationship Type="http://schemas.openxmlformats.org/officeDocument/2006/relationships/notesMaster" Target="/ppt/notesMasters/notesMaster1.xml" Id="Rfb195fe65d7a45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5b4d55a4674f49" /><Relationship Type="http://schemas.openxmlformats.org/officeDocument/2006/relationships/notesMaster" Target="/ppt/notesMasters/notesMaster1.xml" Id="R8e7233ab9b6240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3099c0d3bd4ff2" /><Relationship Type="http://schemas.openxmlformats.org/officeDocument/2006/relationships/notesMaster" Target="/ppt/notesMasters/notesMaster1.xml" Id="R6d88327d2bbb4e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9428ce3efa45d3"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759b70aecc3b432f" /><Relationship Type="http://schemas.openxmlformats.org/officeDocument/2006/relationships/slideLayout" Target="/ppt/slideLayouts/slideLayout2.xml" Id="Rfbb239d55bce48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b239d55bce48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9e87df041c6e4b41" /><Relationship Type="http://schemas.openxmlformats.org/officeDocument/2006/relationships/notesSlide" Target="/ppt/notesSlides/notesSlide1.xml" Id="R73903c7a846d40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a3de44bcf17447c" /><Relationship Type="http://schemas.openxmlformats.org/officeDocument/2006/relationships/notesSlide" Target="/ppt/notesSlides/notesSlide2.xml" Id="Rb36bd20c00dc42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62760544bca4f05" /><Relationship Type="http://schemas.openxmlformats.org/officeDocument/2006/relationships/notesSlide" Target="/ppt/notesSlides/notesSlide3.xml" Id="Rd892329d41bf49c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028BEBA-32F2-467C-A623-1A0AF759D43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8"/>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C6C2A6B-1A40-4107-9549-9D6DC9A4C881}"/>
              </a:ext>
            </a:extLst>
          </p:cNvPr>
          <p:cNvSpPr>
            <a:spLocks xmlns:a="http://schemas.openxmlformats.org/drawingml/2006/main" noGrp="1"/>
          </p:cNvSpPr>
          <p:nvPr/>
        </p:nvSpPr>
        <p:spPr>
          <a:xfrm xmlns:a="http://schemas.openxmlformats.org/drawingml/2006/main">
            <a:off x="0" y="0"/>
            <a:ext cx="4343400" cy="6858000"/>
          </a:xfrm>
          <a:prstGeom xmlns:a="http://schemas.openxmlformats.org/drawingml/2006/main" prst="rect">
            <a:avLst/>
          </a:prstGeom>
          <a:solidFill xmlns:a="http://schemas.openxmlformats.org/drawingml/2006/main">
            <a:srgbClr val="EAF6F1"/>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E574319-DDB7-4FB5-889C-4058F748E01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E8D8B"/>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909B2C9-CD4C-4EE6-9A36-9C3308DE8791}"/>
              </a:ext>
            </a:extLst>
          </p:cNvPr>
          <p:cNvSpPr>
            <a:spLocks xmlns:a="http://schemas.openxmlformats.org/drawingml/2006/main" noGrp="1"/>
          </p:cNvSpPr>
          <p:nvPr/>
        </p:nvSpPr>
        <p:spPr>
          <a:xfrm xmlns:a="http://schemas.openxmlformats.org/drawingml/2006/main">
            <a:off x="666750" y="876300"/>
            <a:ext cx="1028700" cy="1028700"/>
          </a:xfrm>
          <a:prstGeom xmlns:a="http://schemas.openxmlformats.org/drawingml/2006/main" prst="ellipse">
            <a:avLst/>
          </a:prstGeom>
          <a:solidFill xmlns:a="http://schemas.openxmlformats.org/drawingml/2006/main">
            <a:srgbClr val="0E8D8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E328B747-58DD-4B80-B1B2-B0B09561A051}"/>
              </a:ext>
            </a:extLst>
          </p:cNvPr>
          <p:cNvSpPr>
            <a:spLocks xmlns:a="http://schemas.openxmlformats.org/drawingml/2006/main" noGrp="1"/>
          </p:cNvSpPr>
          <p:nvPr/>
        </p:nvSpPr>
        <p:spPr>
          <a:xfrm xmlns:a="http://schemas.openxmlformats.org/drawingml/2006/main">
            <a:off x="1047750" y="1219200"/>
            <a:ext cx="838200" cy="838200"/>
          </a:xfrm>
          <a:prstGeom xmlns:a="http://schemas.openxmlformats.org/drawingml/2006/main" prst="ellipse">
            <a:avLst/>
          </a:prstGeom>
          <a:solidFill xmlns:a="http://schemas.openxmlformats.org/drawingml/2006/main">
            <a:srgbClr val="BFEADD"/>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E4CFE37-652B-489D-9965-198BB2DDA1B2}"/>
              </a:ext>
            </a:extLst>
          </p:cNvPr>
          <p:cNvSpPr>
            <a:spLocks xmlns:a="http://schemas.openxmlformats.org/drawingml/2006/main" noGrp="1"/>
          </p:cNvSpPr>
          <p:nvPr/>
        </p:nvSpPr>
        <p:spPr>
          <a:xfrm xmlns:a="http://schemas.openxmlformats.org/drawingml/2006/main">
            <a:off x="1390650" y="819150"/>
            <a:ext cx="361950" cy="361950"/>
          </a:xfrm>
          <a:prstGeom xmlns:a="http://schemas.openxmlformats.org/drawingml/2006/main" prst="ellipse">
            <a:avLst/>
          </a:prstGeom>
          <a:solidFill xmlns:a="http://schemas.openxmlformats.org/drawingml/2006/main">
            <a:srgbClr val="F27C68"/>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2C59E8F-478E-44FB-908D-6A0D9DB6C39E}"/>
              </a:ext>
            </a:extLst>
          </p:cNvPr>
          <p:cNvSpPr>
            <a:spLocks xmlns:a="http://schemas.openxmlformats.org/drawingml/2006/main" noGrp="1"/>
          </p:cNvSpPr>
          <p:nvPr/>
        </p:nvSpPr>
        <p:spPr>
          <a:xfrm xmlns:a="http://schemas.openxmlformats.org/drawingml/2006/main">
            <a:off x="800100" y="1257300"/>
            <a:ext cx="171450" cy="171450"/>
          </a:xfrm>
          <a:prstGeom xmlns:a="http://schemas.openxmlformats.org/drawingml/2006/main" prst="ellipse">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8" name="kicker-01-label">
            <a:extLst xmlns:a="http://schemas.openxmlformats.org/drawingml/2006/main">
              <a:ext uri="{FF2B5EF4-FFF2-40B4-BE49-F238E27FC236}">
                <a16:creationId xmlns:a16="http://schemas.microsoft.com/office/drawing/2014/main" id="{C8830FB3-D30E-4A53-9BCB-2BA46187FA97}"/>
              </a:ext>
            </a:extLst>
          </p:cNvPr>
          <p:cNvSpPr>
            <a:spLocks xmlns:a="http://schemas.openxmlformats.org/drawingml/2006/main" noGrp="1"/>
          </p:cNvSpPr>
          <p:nvPr/>
        </p:nvSpPr>
        <p:spPr>
          <a:xfrm xmlns:a="http://schemas.openxmlformats.org/drawingml/2006/main">
            <a:off x="666750" y="24193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E8D8B"/>
                </a:solidFill>
                <a:latin typeface="Aptos"/>
                <a:ea typeface="Aptos"/>
                <a:cs typeface="Aptos"/>
              </a:defRPr>
            </a:pPr>
            <a:r>
              <a:rPr sz="975" b="1">
                <a:solidFill>
                  <a:srgbClr val="0E8D8B"/>
                </a:solidFill>
                <a:latin typeface="Aptos"/>
                <a:ea typeface="Aptos"/>
                <a:cs typeface="Aptos"/>
              </a:rPr>
              <a:t>ABSTRACT</a:t>
            </a:r>
          </a:p>
        </p:txBody>
      </p:sp>
      <p:sp>
        <p:nvSpPr>
          <p:cNvPr id="9" name="">
            <a:extLst xmlns:a="http://schemas.openxmlformats.org/drawingml/2006/main">
              <a:ext uri="{FF2B5EF4-FFF2-40B4-BE49-F238E27FC236}">
                <a16:creationId xmlns:a16="http://schemas.microsoft.com/office/drawing/2014/main" id="{6C103437-895C-478A-B5DA-71238177FAB2}"/>
              </a:ext>
            </a:extLst>
          </p:cNvPr>
          <p:cNvSpPr>
            <a:spLocks xmlns:a="http://schemas.openxmlformats.org/drawingml/2006/main" noGrp="1"/>
          </p:cNvSpPr>
          <p:nvPr/>
        </p:nvSpPr>
        <p:spPr>
          <a:xfrm xmlns:a="http://schemas.openxmlformats.org/drawingml/2006/main">
            <a:off x="647700" y="2762250"/>
            <a:ext cx="59055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350" b="1">
                <a:solidFill>
                  <a:srgbClr val="10213D"/>
                </a:solidFill>
                <a:latin typeface="Aptos Display"/>
                <a:ea typeface="Aptos Display"/>
                <a:cs typeface="Aptos Display"/>
              </a:defRPr>
            </a:pPr>
            <a:r>
              <a:rPr sz="4350" b="1">
                <a:solidFill>
                  <a:srgbClr val="10213D"/>
                </a:solidFill>
                <a:latin typeface="Aptos Display"/>
                <a:ea typeface="Aptos Display"/>
                <a:cs typeface="Aptos Display"/>
              </a:rPr>
              <a:t>MindCare AI</a:t>
            </a:r>
          </a:p>
        </p:txBody>
      </p:sp>
      <p:sp>
        <p:nvSpPr>
          <p:cNvPr id="10" name="">
            <a:extLst xmlns:a="http://schemas.openxmlformats.org/drawingml/2006/main">
              <a:ext uri="{FF2B5EF4-FFF2-40B4-BE49-F238E27FC236}">
                <a16:creationId xmlns:a16="http://schemas.microsoft.com/office/drawing/2014/main" id="{545C618A-B2F6-4F58-A8B1-CEB756C0A9B7}"/>
              </a:ext>
            </a:extLst>
          </p:cNvPr>
          <p:cNvSpPr>
            <a:spLocks xmlns:a="http://schemas.openxmlformats.org/drawingml/2006/main" noGrp="1"/>
          </p:cNvSpPr>
          <p:nvPr/>
        </p:nvSpPr>
        <p:spPr>
          <a:xfrm xmlns:a="http://schemas.openxmlformats.org/drawingml/2006/main">
            <a:off x="685800" y="3714750"/>
            <a:ext cx="51435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607085"/>
                </a:solidFill>
                <a:latin typeface="Aptos"/>
                <a:ea typeface="Aptos"/>
                <a:cs typeface="Aptos"/>
              </a:defRPr>
            </a:pPr>
            <a:r>
              <a:rPr sz="1800" b="0">
                <a:solidFill>
                  <a:srgbClr val="607085"/>
                </a:solidFill>
                <a:latin typeface="Aptos"/>
                <a:ea typeface="Aptos"/>
                <a:cs typeface="Aptos"/>
              </a:rPr>
              <a:t>An intelligent mental health support platform designed for accessible, personalized, and timely emotional assistance.</a:t>
            </a:r>
          </a:p>
        </p:txBody>
      </p:sp>
      <p:sp>
        <p:nvSpPr>
          <p:cNvPr id="11" name="">
            <a:extLst xmlns:a="http://schemas.openxmlformats.org/drawingml/2006/main">
              <a:ext uri="{FF2B5EF4-FFF2-40B4-BE49-F238E27FC236}">
                <a16:creationId xmlns:a16="http://schemas.microsoft.com/office/drawing/2014/main" id="{6C013791-481A-42D2-8BFD-B72C0C32350B}"/>
              </a:ext>
            </a:extLst>
          </p:cNvPr>
          <p:cNvSpPr>
            <a:spLocks xmlns:a="http://schemas.openxmlformats.org/drawingml/2006/main" noGrp="1"/>
          </p:cNvSpPr>
          <p:nvPr/>
        </p:nvSpPr>
        <p:spPr>
          <a:xfrm xmlns:a="http://schemas.openxmlformats.org/drawingml/2006/main">
            <a:off x="6858000" y="876300"/>
            <a:ext cx="3733800" cy="3733800"/>
          </a:xfrm>
          <a:prstGeom xmlns:a="http://schemas.openxmlformats.org/drawingml/2006/main" prst="rect">
            <a:avLst/>
          </a:prstGeom>
          <a:solidFill xmlns:a="http://schemas.openxmlformats.org/drawingml/2006/main">
            <a:srgbClr val="FFFFFF"/>
          </a:solidFill>
          <a:ln xmlns:a="http://schemas.openxmlformats.org/drawingml/2006/main" w="9525">
            <a:solidFill>
              <a:srgbClr val="D6E4E0"/>
            </a:solidFill>
            <a:prstDash val="solid"/>
          </a:ln>
        </p:spPr>
      </p:sp>
      <p:sp>
        <p:nvSpPr>
          <p:cNvPr id="12" name="">
            <a:extLst xmlns:a="http://schemas.openxmlformats.org/drawingml/2006/main">
              <a:ext uri="{FF2B5EF4-FFF2-40B4-BE49-F238E27FC236}">
                <a16:creationId xmlns:a16="http://schemas.microsoft.com/office/drawing/2014/main" id="{13C3AB64-54EF-4390-9147-5E1D168D920B}"/>
              </a:ext>
            </a:extLst>
          </p:cNvPr>
          <p:cNvSpPr>
            <a:spLocks xmlns:a="http://schemas.openxmlformats.org/drawingml/2006/main" noGrp="1"/>
          </p:cNvSpPr>
          <p:nvPr/>
        </p:nvSpPr>
        <p:spPr>
          <a:xfrm xmlns:a="http://schemas.openxmlformats.org/drawingml/2006/main">
            <a:off x="7239000" y="1314450"/>
            <a:ext cx="2971800" cy="285750"/>
          </a:xfrm>
          <a:prstGeom xmlns:a="http://schemas.openxmlformats.org/drawingml/2006/main" prst="rect">
            <a:avLst/>
          </a:prstGeom>
          <a:solidFill xmlns:a="http://schemas.openxmlformats.org/drawingml/2006/main">
            <a:srgbClr val="DDF2EC"/>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9D5C5DF9-A71B-492D-9F36-386492664D62}"/>
              </a:ext>
            </a:extLst>
          </p:cNvPr>
          <p:cNvSpPr>
            <a:spLocks xmlns:a="http://schemas.openxmlformats.org/drawingml/2006/main" noGrp="1"/>
          </p:cNvSpPr>
          <p:nvPr/>
        </p:nvSpPr>
        <p:spPr>
          <a:xfrm xmlns:a="http://schemas.openxmlformats.org/drawingml/2006/main">
            <a:off x="7239000" y="1981200"/>
            <a:ext cx="1200150" cy="1200150"/>
          </a:xfrm>
          <a:prstGeom xmlns:a="http://schemas.openxmlformats.org/drawingml/2006/main" prst="ellipse">
            <a:avLst/>
          </a:prstGeom>
          <a:solidFill xmlns:a="http://schemas.openxmlformats.org/drawingml/2006/main">
            <a:srgbClr val="F6C9C0"/>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F5FA2345-C2E9-4B24-A92A-FD4A19D0FCBE}"/>
              </a:ext>
            </a:extLst>
          </p:cNvPr>
          <p:cNvSpPr>
            <a:spLocks xmlns:a="http://schemas.openxmlformats.org/drawingml/2006/main" noGrp="1"/>
          </p:cNvSpPr>
          <p:nvPr/>
        </p:nvSpPr>
        <p:spPr>
          <a:xfrm xmlns:a="http://schemas.openxmlformats.org/drawingml/2006/main">
            <a:off x="8496300" y="1866900"/>
            <a:ext cx="1485900" cy="1485900"/>
          </a:xfrm>
          <a:prstGeom xmlns:a="http://schemas.openxmlformats.org/drawingml/2006/main" prst="ellipse">
            <a:avLst/>
          </a:prstGeom>
          <a:solidFill xmlns:a="http://schemas.openxmlformats.org/drawingml/2006/main">
            <a:srgbClr val="BFC8FA"/>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A6B716F7-DD8A-469A-AB3C-3DC3CD313591}"/>
              </a:ext>
            </a:extLst>
          </p:cNvPr>
          <p:cNvSpPr>
            <a:spLocks xmlns:a="http://schemas.openxmlformats.org/drawingml/2006/main" noGrp="1"/>
          </p:cNvSpPr>
          <p:nvPr/>
        </p:nvSpPr>
        <p:spPr>
          <a:xfrm xmlns:a="http://schemas.openxmlformats.org/drawingml/2006/main">
            <a:off x="7867650" y="2609850"/>
            <a:ext cx="1504950" cy="1504950"/>
          </a:xfrm>
          <a:prstGeom xmlns:a="http://schemas.openxmlformats.org/drawingml/2006/main" prst="ellipse">
            <a:avLst/>
          </a:prstGeom>
          <a:solidFill xmlns:a="http://schemas.openxmlformats.org/drawingml/2006/main">
            <a:srgbClr val="78D5B8"/>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F6DD6D9-BDBA-466E-98BF-D345BC09E17B}"/>
              </a:ext>
            </a:extLst>
          </p:cNvPr>
          <p:cNvSpPr>
            <a:spLocks xmlns:a="http://schemas.openxmlformats.org/drawingml/2006/main" noGrp="1"/>
          </p:cNvSpPr>
          <p:nvPr/>
        </p:nvSpPr>
        <p:spPr>
          <a:xfrm xmlns:a="http://schemas.openxmlformats.org/drawingml/2006/main">
            <a:off x="7239000" y="4953000"/>
            <a:ext cx="33909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10213D"/>
                </a:solidFill>
                <a:latin typeface="Aptos"/>
                <a:ea typeface="Aptos"/>
                <a:cs typeface="Aptos"/>
              </a:defRPr>
            </a:pPr>
            <a:r>
              <a:rPr sz="1500" b="1">
                <a:solidFill>
                  <a:srgbClr val="10213D"/>
                </a:solidFill>
                <a:latin typeface="Aptos"/>
                <a:ea typeface="Aptos"/>
                <a:cs typeface="Aptos"/>
              </a:rPr>
              <a:t>AI + emotional support + self-care guidance</a:t>
            </a:r>
          </a:p>
        </p:txBody>
      </p:sp>
      <p:sp>
        <p:nvSpPr>
          <p:cNvPr id="17" name="">
            <a:extLst xmlns:a="http://schemas.openxmlformats.org/drawingml/2006/main">
              <a:ext uri="{FF2B5EF4-FFF2-40B4-BE49-F238E27FC236}">
                <a16:creationId xmlns:a16="http://schemas.microsoft.com/office/drawing/2014/main" id="{98AA64D6-EACD-4AC6-8558-B51836CD57DD}"/>
              </a:ext>
            </a:extLst>
          </p:cNvPr>
          <p:cNvSpPr>
            <a:spLocks xmlns:a="http://schemas.openxmlformats.org/drawingml/2006/main" noGrp="1"/>
          </p:cNvSpPr>
          <p:nvPr/>
        </p:nvSpPr>
        <p:spPr>
          <a:xfrm xmlns:a="http://schemas.openxmlformats.org/drawingml/2006/main">
            <a:off x="666750" y="5772150"/>
            <a:ext cx="1581150" cy="361950"/>
          </a:xfrm>
          <a:prstGeom xmlns:a="http://schemas.openxmlformats.org/drawingml/2006/main" prst="rect">
            <a:avLst/>
          </a:prstGeom>
          <a:solidFill xmlns:a="http://schemas.openxmlformats.org/drawingml/2006/main">
            <a:srgbClr val="10213D"/>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34199D30-16DB-47D8-BD61-8932EB85E6DA}"/>
              </a:ext>
            </a:extLst>
          </p:cNvPr>
          <p:cNvSpPr>
            <a:spLocks xmlns:a="http://schemas.openxmlformats.org/drawingml/2006/main" noGrp="1"/>
          </p:cNvSpPr>
          <p:nvPr/>
        </p:nvSpPr>
        <p:spPr>
          <a:xfrm xmlns:a="http://schemas.openxmlformats.org/drawingml/2006/main">
            <a:off x="838200" y="5857875"/>
            <a:ext cx="1238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Project Abstract</a:t>
            </a:r>
          </a:p>
        </p:txBody>
      </p:sp>
      <p:sp>
        <p:nvSpPr>
          <p:cNvPr id="19" name="">
            <a:extLst xmlns:a="http://schemas.openxmlformats.org/drawingml/2006/main">
              <a:ext uri="{FF2B5EF4-FFF2-40B4-BE49-F238E27FC236}">
                <a16:creationId xmlns:a16="http://schemas.microsoft.com/office/drawing/2014/main" id="{B2AF57F3-C366-4E71-A46E-85BC2D0B4990}"/>
              </a:ext>
            </a:extLst>
          </p:cNvPr>
          <p:cNvSpPr>
            <a:spLocks xmlns:a="http://schemas.openxmlformats.org/drawingml/2006/main" noGrp="1"/>
          </p:cNvSpPr>
          <p:nvPr/>
        </p:nvSpPr>
        <p:spPr>
          <a:xfrm xmlns:a="http://schemas.openxmlformats.org/drawingml/2006/main">
            <a:off x="10229850" y="6057900"/>
            <a:ext cx="1104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607085"/>
                </a:solidFill>
                <a:latin typeface="Aptos"/>
                <a:ea typeface="Aptos"/>
                <a:cs typeface="Aptos"/>
              </a:defRPr>
            </a:pPr>
            <a:r>
              <a:rPr sz="900" b="0">
                <a:solidFill>
                  <a:srgbClr val="607085"/>
                </a:solidFill>
                <a:latin typeface="Aptos"/>
                <a:ea typeface="Aptos"/>
                <a:cs typeface="Aptos"/>
              </a:rPr>
              <a:t>MindCare AI</a:t>
            </a:r>
          </a:p>
        </p:txBody>
      </p:sp>
    </p:spTree>
    <p:extLst>
      <p:ext uri="{BB962C8B-B14F-4D97-AF65-F5344CB8AC3E}">
        <p14:creationId xmlns:p14="http://schemas.microsoft.com/office/powerpoint/2010/main" val="787307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6F27071-6341-4F41-AF9D-75E353B0499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AF8"/>
          </a:solidFill>
          <a:ln xmlns:a="http://schemas.openxmlformats.org/drawingml/2006/main" w="0">
            <a:solidFill>
              <a:srgbClr val="000000">
                <a:alpha val="0"/>
              </a:srgbClr>
            </a:solidFill>
            <a:prstDash val="solid"/>
          </a:ln>
        </p:spPr>
      </p:sp>
      <p:sp>
        <p:nvSpPr>
          <p:cNvPr id="2" name="kicker-01-marker">
            <a:extLst xmlns:a="http://schemas.openxmlformats.org/drawingml/2006/main">
              <a:ext uri="{FF2B5EF4-FFF2-40B4-BE49-F238E27FC236}">
                <a16:creationId xmlns:a16="http://schemas.microsoft.com/office/drawing/2014/main" id="{D6BCE36B-A727-4D56-B8C6-17613C9AEB58}"/>
              </a:ext>
            </a:extLst>
          </p:cNvPr>
          <p:cNvSpPr>
            <a:spLocks xmlns:a="http://schemas.openxmlformats.org/drawingml/2006/main" noGrp="1"/>
          </p:cNvSpPr>
          <p:nvPr/>
        </p:nvSpPr>
        <p:spPr>
          <a:xfrm xmlns:a="http://schemas.openxmlformats.org/drawingml/2006/main">
            <a:off x="666750" y="590550"/>
            <a:ext cx="114300" cy="114300"/>
          </a:xfrm>
          <a:prstGeom xmlns:a="http://schemas.openxmlformats.org/drawingml/2006/main" prst="ellipse">
            <a:avLst/>
          </a:prstGeom>
          <a:solidFill xmlns:a="http://schemas.openxmlformats.org/drawingml/2006/main">
            <a:srgbClr val="0E8D8B"/>
          </a:solidFill>
          <a:ln xmlns:a="http://schemas.openxmlformats.org/drawingml/2006/main" w="0">
            <a:solidFill>
              <a:srgbClr val="000000">
                <a:alpha val="0"/>
              </a:srgbClr>
            </a:solidFill>
            <a:prstDash val="solid"/>
          </a:ln>
        </p:spPr>
      </p:sp>
      <p:sp>
        <p:nvSpPr>
          <p:cNvPr id="3" name="kicker-01-label">
            <a:extLst xmlns:a="http://schemas.openxmlformats.org/drawingml/2006/main">
              <a:ext uri="{FF2B5EF4-FFF2-40B4-BE49-F238E27FC236}">
                <a16:creationId xmlns:a16="http://schemas.microsoft.com/office/drawing/2014/main" id="{F2CB8623-DC5E-4800-B8B2-74856328DF86}"/>
              </a:ext>
            </a:extLst>
          </p:cNvPr>
          <p:cNvSpPr>
            <a:spLocks xmlns:a="http://schemas.openxmlformats.org/drawingml/2006/main" noGrp="1"/>
          </p:cNvSpPr>
          <p:nvPr/>
        </p:nvSpPr>
        <p:spPr>
          <a:xfrm xmlns:a="http://schemas.openxmlformats.org/drawingml/2006/main">
            <a:off x="895350" y="523875"/>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E8D8B"/>
                </a:solidFill>
                <a:latin typeface="Aptos"/>
                <a:ea typeface="Aptos"/>
                <a:cs typeface="Aptos"/>
              </a:defRPr>
            </a:pPr>
            <a:r>
              <a:rPr sz="975" b="1">
                <a:solidFill>
                  <a:srgbClr val="0E8D8B"/>
                </a:solidFill>
                <a:latin typeface="Aptos"/>
                <a:ea typeface="Aptos"/>
                <a:cs typeface="Aptos"/>
              </a:rPr>
              <a:t>PROJECT ABSTRACT</a:t>
            </a:r>
          </a:p>
        </p:txBody>
      </p:sp>
      <p:sp>
        <p:nvSpPr>
          <p:cNvPr id="4" name="">
            <a:extLst xmlns:a="http://schemas.openxmlformats.org/drawingml/2006/main">
              <a:ext uri="{FF2B5EF4-FFF2-40B4-BE49-F238E27FC236}">
                <a16:creationId xmlns:a16="http://schemas.microsoft.com/office/drawing/2014/main" id="{3807BA9C-1CEA-4D6E-A98B-2AD40C0C7266}"/>
              </a:ext>
            </a:extLst>
          </p:cNvPr>
          <p:cNvSpPr>
            <a:spLocks xmlns:a="http://schemas.openxmlformats.org/drawingml/2006/main" noGrp="1"/>
          </p:cNvSpPr>
          <p:nvPr/>
        </p:nvSpPr>
        <p:spPr>
          <a:xfrm xmlns:a="http://schemas.openxmlformats.org/drawingml/2006/main">
            <a:off x="666750" y="971550"/>
            <a:ext cx="752475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10213D"/>
                </a:solidFill>
                <a:latin typeface="Aptos Display"/>
                <a:ea typeface="Aptos Display"/>
                <a:cs typeface="Aptos Display"/>
              </a:defRPr>
            </a:pPr>
            <a:r>
              <a:rPr sz="2700" b="1">
                <a:solidFill>
                  <a:srgbClr val="10213D"/>
                </a:solidFill>
                <a:latin typeface="Aptos Display"/>
                <a:ea typeface="Aptos Display"/>
                <a:cs typeface="Aptos Display"/>
              </a:rPr>
              <a:t>MindCare AI provides a safe digital space for early emotional support.</a:t>
            </a:r>
          </a:p>
        </p:txBody>
      </p:sp>
      <p:sp>
        <p:nvSpPr>
          <p:cNvPr id="5" name="">
            <a:extLst xmlns:a="http://schemas.openxmlformats.org/drawingml/2006/main">
              <a:ext uri="{FF2B5EF4-FFF2-40B4-BE49-F238E27FC236}">
                <a16:creationId xmlns:a16="http://schemas.microsoft.com/office/drawing/2014/main" id="{6F98D185-294C-4430-9787-E9717EF0D87A}"/>
              </a:ext>
            </a:extLst>
          </p:cNvPr>
          <p:cNvSpPr>
            <a:spLocks xmlns:a="http://schemas.openxmlformats.org/drawingml/2006/main" noGrp="1"/>
          </p:cNvSpPr>
          <p:nvPr/>
        </p:nvSpPr>
        <p:spPr>
          <a:xfrm xmlns:a="http://schemas.openxmlformats.org/drawingml/2006/main">
            <a:off x="666750" y="2076450"/>
            <a:ext cx="7524750" cy="3467100"/>
          </a:xfrm>
          <a:prstGeom xmlns:a="http://schemas.openxmlformats.org/drawingml/2006/main" prst="rect">
            <a:avLst/>
          </a:prstGeom>
          <a:solidFill xmlns:a="http://schemas.openxmlformats.org/drawingml/2006/main">
            <a:srgbClr val="FFFFFF"/>
          </a:solidFill>
          <a:ln xmlns:a="http://schemas.openxmlformats.org/drawingml/2006/main" w="9525">
            <a:solidFill>
              <a:srgbClr val="D6E4E0"/>
            </a:solidFill>
            <a:prstDash val="solid"/>
          </a:ln>
        </p:spPr>
      </p:sp>
      <p:sp>
        <p:nvSpPr>
          <p:cNvPr id="6" name="">
            <a:extLst xmlns:a="http://schemas.openxmlformats.org/drawingml/2006/main">
              <a:ext uri="{FF2B5EF4-FFF2-40B4-BE49-F238E27FC236}">
                <a16:creationId xmlns:a16="http://schemas.microsoft.com/office/drawing/2014/main" id="{92AF6770-936D-45FB-944A-ABCB67AAF0C7}"/>
              </a:ext>
            </a:extLst>
          </p:cNvPr>
          <p:cNvSpPr>
            <a:spLocks xmlns:a="http://schemas.openxmlformats.org/drawingml/2006/main" noGrp="1"/>
          </p:cNvSpPr>
          <p:nvPr/>
        </p:nvSpPr>
        <p:spPr>
          <a:xfrm xmlns:a="http://schemas.openxmlformats.org/drawingml/2006/main">
            <a:off x="1009650" y="2400300"/>
            <a:ext cx="6838950" cy="2781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26374F"/>
                </a:solidFill>
                <a:latin typeface="Aptos"/>
                <a:ea typeface="Aptos"/>
                <a:cs typeface="Aptos"/>
              </a:defRPr>
            </a:pPr>
            <a:r>
              <a:rPr sz="1350" b="0">
                <a:solidFill>
                  <a:srgbClr val="26374F"/>
                </a:solidFill>
                <a:latin typeface="Aptos"/>
                <a:ea typeface="Aptos"/>
                <a:cs typeface="Aptos"/>
              </a:rPr>
              <a:t>MindCare AI is an intelligent mental health support platform designed to provide accessible, personalized, and timely emotional assistance to users. The system uses artificial intelligence to understand user inputs, identify emotional patterns, and offer supportive responses, self-care suggestions, and guidance based on the user's mental state. It aims to reduce the gap between individuals and mental health resources by offering a safe, private, and user-friendly digital environment.</a:t>
            </a:r>
          </a:p>
          <a:p xmlns:a="http://schemas.openxmlformats.org/drawingml/2006/main">
            <a:r>
              <a:t/>
            </a:r>
          </a:p>
          <a:p xmlns:a="http://schemas.openxmlformats.org/drawingml/2006/main">
            <a:pPr algn="l">
              <a:defRPr sz="1350" b="0">
                <a:solidFill>
                  <a:srgbClr val="26374F"/>
                </a:solidFill>
                <a:latin typeface="Aptos"/>
                <a:ea typeface="Aptos"/>
                <a:cs typeface="Aptos"/>
              </a:defRPr>
            </a:pPr>
            <a:r>
              <a:rPr sz="1350" b="0">
                <a:solidFill>
                  <a:srgbClr val="26374F"/>
                </a:solidFill>
                <a:latin typeface="Aptos"/>
                <a:ea typeface="Aptos"/>
                <a:cs typeface="Aptos"/>
              </a:rPr>
              <a:t>The project focuses on early emotional support, stress management, mood tracking, and awareness of mental well-being. By combining AI-based conversation, sentiment analysis, and helpful wellness recommendations, MindCare AI encourages users to express their thoughts freely and take positive steps toward better mental health. While it does not replace professional medical care, it acts as a supportive companion that can guide users toward healthier habits and recommend seeking expert help when needed.</a:t>
            </a:r>
          </a:p>
          <a:p xmlns:a="http://schemas.openxmlformats.org/drawingml/2006/main">
            <a:r>
              <a:t/>
            </a:r>
          </a:p>
          <a:p xmlns:a="http://schemas.openxmlformats.org/drawingml/2006/main">
            <a:pPr algn="l">
              <a:defRPr sz="1350" b="0">
                <a:solidFill>
                  <a:srgbClr val="26374F"/>
                </a:solidFill>
                <a:latin typeface="Aptos"/>
                <a:ea typeface="Aptos"/>
                <a:cs typeface="Aptos"/>
              </a:defRPr>
            </a:pPr>
            <a:r>
              <a:rPr sz="1350" b="0">
                <a:solidFill>
                  <a:srgbClr val="26374F"/>
                </a:solidFill>
                <a:latin typeface="Aptos"/>
                <a:ea typeface="Aptos"/>
                <a:cs typeface="Aptos"/>
              </a:rPr>
              <a:t>Overall, MindCare AI demonstrates how technology can be used responsibly to promote mental wellness, improve accessibility to support, and create a more compassionate approach to digital healthcare.</a:t>
            </a:r>
          </a:p>
        </p:txBody>
      </p:sp>
      <p:sp>
        <p:nvSpPr>
          <p:cNvPr id="7" name="">
            <a:extLst xmlns:a="http://schemas.openxmlformats.org/drawingml/2006/main">
              <a:ext uri="{FF2B5EF4-FFF2-40B4-BE49-F238E27FC236}">
                <a16:creationId xmlns:a16="http://schemas.microsoft.com/office/drawing/2014/main" id="{38F93199-A0D5-4F0E-92F0-A8F96F175886}"/>
              </a:ext>
            </a:extLst>
          </p:cNvPr>
          <p:cNvSpPr>
            <a:spLocks xmlns:a="http://schemas.openxmlformats.org/drawingml/2006/main" noGrp="1"/>
          </p:cNvSpPr>
          <p:nvPr/>
        </p:nvSpPr>
        <p:spPr>
          <a:xfrm xmlns:a="http://schemas.openxmlformats.org/drawingml/2006/main">
            <a:off x="8724900" y="1104900"/>
            <a:ext cx="2362200" cy="4438650"/>
          </a:xfrm>
          <a:prstGeom xmlns:a="http://schemas.openxmlformats.org/drawingml/2006/main" prst="rect">
            <a:avLst/>
          </a:prstGeom>
          <a:solidFill xmlns:a="http://schemas.openxmlformats.org/drawingml/2006/main">
            <a:srgbClr val="10213D"/>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E7A285ED-106C-46DA-88C3-799CA9848277}"/>
              </a:ext>
            </a:extLst>
          </p:cNvPr>
          <p:cNvSpPr>
            <a:spLocks xmlns:a="http://schemas.openxmlformats.org/drawingml/2006/main" noGrp="1"/>
          </p:cNvSpPr>
          <p:nvPr/>
        </p:nvSpPr>
        <p:spPr>
          <a:xfrm xmlns:a="http://schemas.openxmlformats.org/drawingml/2006/main">
            <a:off x="9048750" y="1428750"/>
            <a:ext cx="1619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Core Focus</a:t>
            </a:r>
          </a:p>
        </p:txBody>
      </p:sp>
      <p:sp>
        <p:nvSpPr>
          <p:cNvPr id="9" name="">
            <a:extLst xmlns:a="http://schemas.openxmlformats.org/drawingml/2006/main">
              <a:ext uri="{FF2B5EF4-FFF2-40B4-BE49-F238E27FC236}">
                <a16:creationId xmlns:a16="http://schemas.microsoft.com/office/drawing/2014/main" id="{06AACEDA-A50A-40D7-8370-64F788522707}"/>
              </a:ext>
            </a:extLst>
          </p:cNvPr>
          <p:cNvSpPr>
            <a:spLocks xmlns:a="http://schemas.openxmlformats.org/drawingml/2006/main" noGrp="1"/>
          </p:cNvSpPr>
          <p:nvPr/>
        </p:nvSpPr>
        <p:spPr>
          <a:xfrm xmlns:a="http://schemas.openxmlformats.org/drawingml/2006/main">
            <a:off x="9048750" y="2076450"/>
            <a:ext cx="323850" cy="323850"/>
          </a:xfrm>
          <a:prstGeom xmlns:a="http://schemas.openxmlformats.org/drawingml/2006/main" prst="ellipse">
            <a:avLst/>
          </a:prstGeom>
          <a:solidFill xmlns:a="http://schemas.openxmlformats.org/drawingml/2006/main">
            <a:srgbClr val="78D5B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5C3D9244-7DC2-4137-A4B9-DCC143E03910}"/>
              </a:ext>
            </a:extLst>
          </p:cNvPr>
          <p:cNvSpPr>
            <a:spLocks xmlns:a="http://schemas.openxmlformats.org/drawingml/2006/main" noGrp="1"/>
          </p:cNvSpPr>
          <p:nvPr/>
        </p:nvSpPr>
        <p:spPr>
          <a:xfrm xmlns:a="http://schemas.openxmlformats.org/drawingml/2006/main">
            <a:off x="9105900" y="2152650"/>
            <a:ext cx="2095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10213D"/>
                </a:solidFill>
                <a:latin typeface="Aptos"/>
                <a:ea typeface="Aptos"/>
                <a:cs typeface="Aptos"/>
              </a:defRPr>
            </a:pPr>
            <a:r>
              <a:rPr sz="750" b="1">
                <a:solidFill>
                  <a:srgbClr val="10213D"/>
                </a:solidFill>
                <a:latin typeface="Aptos"/>
                <a:ea typeface="Aptos"/>
                <a:cs typeface="Aptos"/>
              </a:rPr>
              <a:t>01</a:t>
            </a:r>
          </a:p>
        </p:txBody>
      </p:sp>
      <p:sp>
        <p:nvSpPr>
          <p:cNvPr id="11" name="">
            <a:extLst xmlns:a="http://schemas.openxmlformats.org/drawingml/2006/main">
              <a:ext uri="{FF2B5EF4-FFF2-40B4-BE49-F238E27FC236}">
                <a16:creationId xmlns:a16="http://schemas.microsoft.com/office/drawing/2014/main" id="{F3EE87BB-B4FA-44E9-8B1C-7D04E6FD7491}"/>
              </a:ext>
            </a:extLst>
          </p:cNvPr>
          <p:cNvSpPr>
            <a:spLocks xmlns:a="http://schemas.openxmlformats.org/drawingml/2006/main" noGrp="1"/>
          </p:cNvSpPr>
          <p:nvPr/>
        </p:nvSpPr>
        <p:spPr>
          <a:xfrm xmlns:a="http://schemas.openxmlformats.org/drawingml/2006/main">
            <a:off x="9525000" y="2066925"/>
            <a:ext cx="1200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FFFFF"/>
                </a:solidFill>
                <a:latin typeface="Aptos"/>
                <a:ea typeface="Aptos"/>
                <a:cs typeface="Aptos"/>
              </a:defRPr>
            </a:pPr>
            <a:r>
              <a:rPr sz="1200" b="0">
                <a:solidFill>
                  <a:srgbClr val="FFFFFF"/>
                </a:solidFill>
                <a:latin typeface="Aptos"/>
                <a:ea typeface="Aptos"/>
                <a:cs typeface="Aptos"/>
              </a:rPr>
              <a:t>Personalized emotional support</a:t>
            </a:r>
          </a:p>
        </p:txBody>
      </p:sp>
      <p:sp>
        <p:nvSpPr>
          <p:cNvPr id="12" name="">
            <a:extLst xmlns:a="http://schemas.openxmlformats.org/drawingml/2006/main">
              <a:ext uri="{FF2B5EF4-FFF2-40B4-BE49-F238E27FC236}">
                <a16:creationId xmlns:a16="http://schemas.microsoft.com/office/drawing/2014/main" id="{CEA5B947-5EF9-47C8-BDFA-26A4C440B7D5}"/>
              </a:ext>
            </a:extLst>
          </p:cNvPr>
          <p:cNvSpPr>
            <a:spLocks xmlns:a="http://schemas.openxmlformats.org/drawingml/2006/main" noGrp="1"/>
          </p:cNvSpPr>
          <p:nvPr/>
        </p:nvSpPr>
        <p:spPr>
          <a:xfrm xmlns:a="http://schemas.openxmlformats.org/drawingml/2006/main">
            <a:off x="9048750" y="2819400"/>
            <a:ext cx="323850" cy="323850"/>
          </a:xfrm>
          <a:prstGeom xmlns:a="http://schemas.openxmlformats.org/drawingml/2006/main" prst="ellipse">
            <a:avLst/>
          </a:prstGeom>
          <a:solidFill xmlns:a="http://schemas.openxmlformats.org/drawingml/2006/main">
            <a:srgbClr val="F27C68"/>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EE203050-C893-4540-AD6B-6473467420CB}"/>
              </a:ext>
            </a:extLst>
          </p:cNvPr>
          <p:cNvSpPr>
            <a:spLocks xmlns:a="http://schemas.openxmlformats.org/drawingml/2006/main" noGrp="1"/>
          </p:cNvSpPr>
          <p:nvPr/>
        </p:nvSpPr>
        <p:spPr>
          <a:xfrm xmlns:a="http://schemas.openxmlformats.org/drawingml/2006/main">
            <a:off x="9105900" y="2895600"/>
            <a:ext cx="2095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10213D"/>
                </a:solidFill>
                <a:latin typeface="Aptos"/>
                <a:ea typeface="Aptos"/>
                <a:cs typeface="Aptos"/>
              </a:defRPr>
            </a:pPr>
            <a:r>
              <a:rPr sz="750" b="1">
                <a:solidFill>
                  <a:srgbClr val="10213D"/>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CC859B97-546D-41DE-A8A4-BF1D6509B8C2}"/>
              </a:ext>
            </a:extLst>
          </p:cNvPr>
          <p:cNvSpPr>
            <a:spLocks xmlns:a="http://schemas.openxmlformats.org/drawingml/2006/main" noGrp="1"/>
          </p:cNvSpPr>
          <p:nvPr/>
        </p:nvSpPr>
        <p:spPr>
          <a:xfrm xmlns:a="http://schemas.openxmlformats.org/drawingml/2006/main">
            <a:off x="9525000" y="2809875"/>
            <a:ext cx="1200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FFFFF"/>
                </a:solidFill>
                <a:latin typeface="Aptos"/>
                <a:ea typeface="Aptos"/>
                <a:cs typeface="Aptos"/>
              </a:defRPr>
            </a:pPr>
            <a:r>
              <a:rPr sz="1200" b="0">
                <a:solidFill>
                  <a:srgbClr val="FFFFFF"/>
                </a:solidFill>
                <a:latin typeface="Aptos"/>
                <a:ea typeface="Aptos"/>
                <a:cs typeface="Aptos"/>
              </a:rPr>
              <a:t>Mood tracking and stress awareness</a:t>
            </a:r>
          </a:p>
        </p:txBody>
      </p:sp>
      <p:sp>
        <p:nvSpPr>
          <p:cNvPr id="15" name="">
            <a:extLst xmlns:a="http://schemas.openxmlformats.org/drawingml/2006/main">
              <a:ext uri="{FF2B5EF4-FFF2-40B4-BE49-F238E27FC236}">
                <a16:creationId xmlns:a16="http://schemas.microsoft.com/office/drawing/2014/main" id="{C350C242-4A82-4D71-8065-4CF9EA6AFBA9}"/>
              </a:ext>
            </a:extLst>
          </p:cNvPr>
          <p:cNvSpPr>
            <a:spLocks xmlns:a="http://schemas.openxmlformats.org/drawingml/2006/main" noGrp="1"/>
          </p:cNvSpPr>
          <p:nvPr/>
        </p:nvSpPr>
        <p:spPr>
          <a:xfrm xmlns:a="http://schemas.openxmlformats.org/drawingml/2006/main">
            <a:off x="9048750" y="3562350"/>
            <a:ext cx="323850" cy="323850"/>
          </a:xfrm>
          <a:prstGeom xmlns:a="http://schemas.openxmlformats.org/drawingml/2006/main" prst="ellipse">
            <a:avLst/>
          </a:prstGeom>
          <a:solidFill xmlns:a="http://schemas.openxmlformats.org/drawingml/2006/main">
            <a:srgbClr val="5267D8"/>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A5894097-F41B-4451-818E-F40E0766383E}"/>
              </a:ext>
            </a:extLst>
          </p:cNvPr>
          <p:cNvSpPr>
            <a:spLocks xmlns:a="http://schemas.openxmlformats.org/drawingml/2006/main" noGrp="1"/>
          </p:cNvSpPr>
          <p:nvPr/>
        </p:nvSpPr>
        <p:spPr>
          <a:xfrm xmlns:a="http://schemas.openxmlformats.org/drawingml/2006/main">
            <a:off x="9105900" y="3638550"/>
            <a:ext cx="2095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10213D"/>
                </a:solidFill>
                <a:latin typeface="Aptos"/>
                <a:ea typeface="Aptos"/>
                <a:cs typeface="Aptos"/>
              </a:defRPr>
            </a:pPr>
            <a:r>
              <a:rPr sz="750" b="1">
                <a:solidFill>
                  <a:srgbClr val="10213D"/>
                </a:solidFill>
                <a:latin typeface="Aptos"/>
                <a:ea typeface="Aptos"/>
                <a:cs typeface="Aptos"/>
              </a:rPr>
              <a:t>03</a:t>
            </a:r>
          </a:p>
        </p:txBody>
      </p:sp>
      <p:sp>
        <p:nvSpPr>
          <p:cNvPr id="17" name="">
            <a:extLst xmlns:a="http://schemas.openxmlformats.org/drawingml/2006/main">
              <a:ext uri="{FF2B5EF4-FFF2-40B4-BE49-F238E27FC236}">
                <a16:creationId xmlns:a16="http://schemas.microsoft.com/office/drawing/2014/main" id="{0B3AF8EC-C766-4A00-976A-26B5AB4E857A}"/>
              </a:ext>
            </a:extLst>
          </p:cNvPr>
          <p:cNvSpPr>
            <a:spLocks xmlns:a="http://schemas.openxmlformats.org/drawingml/2006/main" noGrp="1"/>
          </p:cNvSpPr>
          <p:nvPr/>
        </p:nvSpPr>
        <p:spPr>
          <a:xfrm xmlns:a="http://schemas.openxmlformats.org/drawingml/2006/main">
            <a:off x="9525000" y="3552825"/>
            <a:ext cx="1200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FFFFF"/>
                </a:solidFill>
                <a:latin typeface="Aptos"/>
                <a:ea typeface="Aptos"/>
                <a:cs typeface="Aptos"/>
              </a:defRPr>
            </a:pPr>
            <a:r>
              <a:rPr sz="1200" b="0">
                <a:solidFill>
                  <a:srgbClr val="FFFFFF"/>
                </a:solidFill>
                <a:latin typeface="Aptos"/>
                <a:ea typeface="Aptos"/>
                <a:cs typeface="Aptos"/>
              </a:rPr>
              <a:t>AI-based wellness recommendations</a:t>
            </a:r>
          </a:p>
        </p:txBody>
      </p:sp>
      <p:sp>
        <p:nvSpPr>
          <p:cNvPr id="18" name="">
            <a:extLst xmlns:a="http://schemas.openxmlformats.org/drawingml/2006/main">
              <a:ext uri="{FF2B5EF4-FFF2-40B4-BE49-F238E27FC236}">
                <a16:creationId xmlns:a16="http://schemas.microsoft.com/office/drawing/2014/main" id="{241968DE-46C9-4940-BCA7-7040C7C5F2C2}"/>
              </a:ext>
            </a:extLst>
          </p:cNvPr>
          <p:cNvSpPr>
            <a:spLocks xmlns:a="http://schemas.openxmlformats.org/drawingml/2006/main" noGrp="1"/>
          </p:cNvSpPr>
          <p:nvPr/>
        </p:nvSpPr>
        <p:spPr>
          <a:xfrm xmlns:a="http://schemas.openxmlformats.org/drawingml/2006/main">
            <a:off x="9048750" y="4305300"/>
            <a:ext cx="323850" cy="323850"/>
          </a:xfrm>
          <a:prstGeom xmlns:a="http://schemas.openxmlformats.org/drawingml/2006/main" prst="ellipse">
            <a:avLst/>
          </a:prstGeom>
          <a:solidFill xmlns:a="http://schemas.openxmlformats.org/drawingml/2006/main">
            <a:srgbClr val="F3D36B"/>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38F73E96-DD26-4667-ABF8-EDCABE9332C5}"/>
              </a:ext>
            </a:extLst>
          </p:cNvPr>
          <p:cNvSpPr>
            <a:spLocks xmlns:a="http://schemas.openxmlformats.org/drawingml/2006/main" noGrp="1"/>
          </p:cNvSpPr>
          <p:nvPr/>
        </p:nvSpPr>
        <p:spPr>
          <a:xfrm xmlns:a="http://schemas.openxmlformats.org/drawingml/2006/main">
            <a:off x="9105900" y="4381500"/>
            <a:ext cx="20955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10213D"/>
                </a:solidFill>
                <a:latin typeface="Aptos"/>
                <a:ea typeface="Aptos"/>
                <a:cs typeface="Aptos"/>
              </a:defRPr>
            </a:pPr>
            <a:r>
              <a:rPr sz="750" b="1">
                <a:solidFill>
                  <a:srgbClr val="10213D"/>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E59DDEFF-89DF-4888-8B6E-1E4AE4592105}"/>
              </a:ext>
            </a:extLst>
          </p:cNvPr>
          <p:cNvSpPr>
            <a:spLocks xmlns:a="http://schemas.openxmlformats.org/drawingml/2006/main" noGrp="1"/>
          </p:cNvSpPr>
          <p:nvPr/>
        </p:nvSpPr>
        <p:spPr>
          <a:xfrm xmlns:a="http://schemas.openxmlformats.org/drawingml/2006/main">
            <a:off x="9525000" y="4295775"/>
            <a:ext cx="12001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FFFFF"/>
                </a:solidFill>
                <a:latin typeface="Aptos"/>
                <a:ea typeface="Aptos"/>
                <a:cs typeface="Aptos"/>
              </a:defRPr>
            </a:pPr>
            <a:r>
              <a:rPr sz="1200" b="0">
                <a:solidFill>
                  <a:srgbClr val="FFFFFF"/>
                </a:solidFill>
                <a:latin typeface="Aptos"/>
                <a:ea typeface="Aptos"/>
                <a:cs typeface="Aptos"/>
              </a:rPr>
              <a:t>Guidance toward expert help when needed</a:t>
            </a:r>
          </a:p>
        </p:txBody>
      </p:sp>
      <p:sp>
        <p:nvSpPr>
          <p:cNvPr id="21" name="">
            <a:extLst xmlns:a="http://schemas.openxmlformats.org/drawingml/2006/main">
              <a:ext uri="{FF2B5EF4-FFF2-40B4-BE49-F238E27FC236}">
                <a16:creationId xmlns:a16="http://schemas.microsoft.com/office/drawing/2014/main" id="{681D71ED-1D8A-46CC-AEAD-8DC4EDC14BC4}"/>
              </a:ext>
            </a:extLst>
          </p:cNvPr>
          <p:cNvSpPr>
            <a:spLocks xmlns:a="http://schemas.openxmlformats.org/drawingml/2006/main" noGrp="1"/>
          </p:cNvSpPr>
          <p:nvPr/>
        </p:nvSpPr>
        <p:spPr>
          <a:xfrm xmlns:a="http://schemas.openxmlformats.org/drawingml/2006/main">
            <a:off x="10782300" y="6115050"/>
            <a:ext cx="304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A7B7C5"/>
                </a:solidFill>
                <a:latin typeface="Aptos"/>
                <a:ea typeface="Aptos"/>
                <a:cs typeface="Aptos"/>
              </a:defRPr>
            </a:pPr>
            <a:r>
              <a:rPr sz="900" b="0">
                <a:solidFill>
                  <a:srgbClr val="A7B7C5"/>
                </a:solidFill>
                <a:latin typeface="Aptos"/>
                <a:ea typeface="Aptos"/>
                <a:cs typeface="Aptos"/>
              </a:rPr>
              <a:t>02</a:t>
            </a:r>
          </a:p>
        </p:txBody>
      </p:sp>
    </p:spTree>
    <p:extLst>
      <p:ext uri="{BB962C8B-B14F-4D97-AF65-F5344CB8AC3E}">
        <p14:creationId xmlns:p14="http://schemas.microsoft.com/office/powerpoint/2010/main" val="82441313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29D67C-78B1-4A12-95EE-5EC49AF9DA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13D"/>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3015BCE-8E0A-421F-B9DE-4751ADBC86B7}"/>
              </a:ext>
            </a:extLst>
          </p:cNvPr>
          <p:cNvSpPr>
            <a:spLocks xmlns:a="http://schemas.openxmlformats.org/drawingml/2006/main" noGrp="1"/>
          </p:cNvSpPr>
          <p:nvPr/>
        </p:nvSpPr>
        <p:spPr>
          <a:xfrm xmlns:a="http://schemas.openxmlformats.org/drawingml/2006/main">
            <a:off x="0" y="0"/>
            <a:ext cx="12192000" cy="1028700"/>
          </a:xfrm>
          <a:prstGeom xmlns:a="http://schemas.openxmlformats.org/drawingml/2006/main" prst="rect">
            <a:avLst/>
          </a:prstGeom>
          <a:solidFill xmlns:a="http://schemas.openxmlformats.org/drawingml/2006/main">
            <a:srgbClr val="0B725E"/>
          </a:solidFill>
          <a:ln xmlns:a="http://schemas.openxmlformats.org/drawingml/2006/main" w="0">
            <a:solidFill>
              <a:srgbClr val="000000">
                <a:alpha val="0"/>
              </a:srgbClr>
            </a:solidFill>
            <a:prstDash val="solid"/>
          </a:ln>
        </p:spPr>
      </p:sp>
      <p:sp>
        <p:nvSpPr>
          <p:cNvPr id="3" name="kicker-01-marker">
            <a:extLst xmlns:a="http://schemas.openxmlformats.org/drawingml/2006/main">
              <a:ext uri="{FF2B5EF4-FFF2-40B4-BE49-F238E27FC236}">
                <a16:creationId xmlns:a16="http://schemas.microsoft.com/office/drawing/2014/main" id="{B839BC0D-EFEA-4DF4-A626-C96FF8D8B06C}"/>
              </a:ext>
            </a:extLst>
          </p:cNvPr>
          <p:cNvSpPr>
            <a:spLocks xmlns:a="http://schemas.openxmlformats.org/drawingml/2006/main" noGrp="1"/>
          </p:cNvSpPr>
          <p:nvPr/>
        </p:nvSpPr>
        <p:spPr>
          <a:xfrm xmlns:a="http://schemas.openxmlformats.org/drawingml/2006/main">
            <a:off x="666750" y="619125"/>
            <a:ext cx="114300" cy="114300"/>
          </a:xfrm>
          <a:prstGeom xmlns:a="http://schemas.openxmlformats.org/drawingml/2006/main" prst="ellipse">
            <a:avLst/>
          </a:prstGeom>
          <a:solidFill xmlns:a="http://schemas.openxmlformats.org/drawingml/2006/main">
            <a:srgbClr val="78D5B8"/>
          </a:solidFill>
          <a:ln xmlns:a="http://schemas.openxmlformats.org/drawingml/2006/main" w="0">
            <a:solidFill>
              <a:srgbClr val="000000">
                <a:alpha val="0"/>
              </a:srgbClr>
            </a:solidFill>
            <a:prstDash val="solid"/>
          </a:ln>
        </p:spPr>
      </p:sp>
      <p:sp>
        <p:nvSpPr>
          <p:cNvPr id="4" name="kicker-01-label">
            <a:extLst xmlns:a="http://schemas.openxmlformats.org/drawingml/2006/main">
              <a:ext uri="{FF2B5EF4-FFF2-40B4-BE49-F238E27FC236}">
                <a16:creationId xmlns:a16="http://schemas.microsoft.com/office/drawing/2014/main" id="{B9A7D42B-711A-49DA-B686-D75FD288988A}"/>
              </a:ext>
            </a:extLst>
          </p:cNvPr>
          <p:cNvSpPr>
            <a:spLocks xmlns:a="http://schemas.openxmlformats.org/drawingml/2006/main" noGrp="1"/>
          </p:cNvSpPr>
          <p:nvPr/>
        </p:nvSpPr>
        <p:spPr>
          <a:xfrm xmlns:a="http://schemas.openxmlformats.org/drawingml/2006/main">
            <a:off x="895350" y="55245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9FFF3"/>
                </a:solidFill>
                <a:latin typeface="Aptos"/>
                <a:ea typeface="Aptos"/>
                <a:cs typeface="Aptos"/>
              </a:defRPr>
            </a:pPr>
            <a:r>
              <a:rPr sz="975" b="1">
                <a:solidFill>
                  <a:srgbClr val="D9FFF3"/>
                </a:solidFill>
                <a:latin typeface="Aptos"/>
                <a:ea typeface="Aptos"/>
                <a:cs typeface="Aptos"/>
              </a:rPr>
              <a:t>PROJECT ESSENCE</a:t>
            </a:r>
          </a:p>
        </p:txBody>
      </p:sp>
      <p:sp>
        <p:nvSpPr>
          <p:cNvPr id="5" name="">
            <a:extLst xmlns:a="http://schemas.openxmlformats.org/drawingml/2006/main">
              <a:ext uri="{FF2B5EF4-FFF2-40B4-BE49-F238E27FC236}">
                <a16:creationId xmlns:a16="http://schemas.microsoft.com/office/drawing/2014/main" id="{990F0EAC-80DB-4D94-81AC-1C1F22F5AE15}"/>
              </a:ext>
            </a:extLst>
          </p:cNvPr>
          <p:cNvSpPr>
            <a:spLocks xmlns:a="http://schemas.openxmlformats.org/drawingml/2006/main" noGrp="1"/>
          </p:cNvSpPr>
          <p:nvPr/>
        </p:nvSpPr>
        <p:spPr>
          <a:xfrm xmlns:a="http://schemas.openxmlformats.org/drawingml/2006/main">
            <a:off x="666750" y="1428750"/>
            <a:ext cx="7239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00" b="1">
                <a:solidFill>
                  <a:srgbClr val="FFFFFF"/>
                </a:solidFill>
                <a:latin typeface="Aptos Display"/>
                <a:ea typeface="Aptos Display"/>
                <a:cs typeface="Aptos Display"/>
              </a:defRPr>
            </a:pPr>
            <a:r>
              <a:rPr sz="3300" b="1">
                <a:solidFill>
                  <a:srgbClr val="FFFFFF"/>
                </a:solidFill>
                <a:latin typeface="Aptos Display"/>
                <a:ea typeface="Aptos Display"/>
                <a:cs typeface="Aptos Display"/>
              </a:rPr>
              <a:t>A compassionate AI companion for mental wellness.</a:t>
            </a:r>
          </a:p>
        </p:txBody>
      </p:sp>
      <p:sp>
        <p:nvSpPr>
          <p:cNvPr id="6" name="">
            <a:extLst xmlns:a="http://schemas.openxmlformats.org/drawingml/2006/main">
              <a:ext uri="{FF2B5EF4-FFF2-40B4-BE49-F238E27FC236}">
                <a16:creationId xmlns:a16="http://schemas.microsoft.com/office/drawing/2014/main" id="{0ED910ED-09DC-4330-A9C0-8655F0E1253E}"/>
              </a:ext>
            </a:extLst>
          </p:cNvPr>
          <p:cNvSpPr>
            <a:spLocks xmlns:a="http://schemas.openxmlformats.org/drawingml/2006/main" noGrp="1"/>
          </p:cNvSpPr>
          <p:nvPr/>
        </p:nvSpPr>
        <p:spPr>
          <a:xfrm xmlns:a="http://schemas.openxmlformats.org/drawingml/2006/main">
            <a:off x="685800" y="2381250"/>
            <a:ext cx="6229350" cy="990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D6E4E0"/>
                </a:solidFill>
                <a:latin typeface="Aptos"/>
                <a:ea typeface="Aptos"/>
                <a:cs typeface="Aptos"/>
              </a:defRPr>
            </a:pPr>
            <a:r>
              <a:rPr sz="1650" b="0">
                <a:solidFill>
                  <a:srgbClr val="D6E4E0"/>
                </a:solidFill>
                <a:latin typeface="Aptos"/>
                <a:ea typeface="Aptos"/>
                <a:cs typeface="Aptos"/>
              </a:rPr>
              <a:t>MindCare AI encourages users to express their thoughts freely, understand their emotional patterns, and take positive steps toward better mental health while respecting the role of professional care.</a:t>
            </a:r>
          </a:p>
        </p:txBody>
      </p:sp>
      <p:sp>
        <p:nvSpPr>
          <p:cNvPr id="7" name="">
            <a:extLst xmlns:a="http://schemas.openxmlformats.org/drawingml/2006/main">
              <a:ext uri="{FF2B5EF4-FFF2-40B4-BE49-F238E27FC236}">
                <a16:creationId xmlns:a16="http://schemas.microsoft.com/office/drawing/2014/main" id="{29EB2193-3A04-45E3-8DFB-5D0137FDFA7C}"/>
              </a:ext>
            </a:extLst>
          </p:cNvPr>
          <p:cNvSpPr>
            <a:spLocks xmlns:a="http://schemas.openxmlformats.org/drawingml/2006/main" noGrp="1"/>
          </p:cNvSpPr>
          <p:nvPr/>
        </p:nvSpPr>
        <p:spPr>
          <a:xfrm xmlns:a="http://schemas.openxmlformats.org/drawingml/2006/main">
            <a:off x="685800" y="4171950"/>
            <a:ext cx="3048000" cy="1257300"/>
          </a:xfrm>
          <a:prstGeom xmlns:a="http://schemas.openxmlformats.org/drawingml/2006/main" prst="rect">
            <a:avLst/>
          </a:prstGeom>
          <a:solidFill xmlns:a="http://schemas.openxmlformats.org/drawingml/2006/main">
            <a:srgbClr val="16314F"/>
          </a:solidFill>
          <a:ln xmlns:a="http://schemas.openxmlformats.org/drawingml/2006/main" w="9525">
            <a:solidFill>
              <a:srgbClr val="2C4B68"/>
            </a:solidFill>
            <a:prstDash val="solid"/>
          </a:ln>
        </p:spPr>
      </p:sp>
      <p:sp>
        <p:nvSpPr>
          <p:cNvPr id="8" name="">
            <a:extLst xmlns:a="http://schemas.openxmlformats.org/drawingml/2006/main">
              <a:ext uri="{FF2B5EF4-FFF2-40B4-BE49-F238E27FC236}">
                <a16:creationId xmlns:a16="http://schemas.microsoft.com/office/drawing/2014/main" id="{350011EC-4DEB-42E8-9AC7-2B5796D7DD96}"/>
              </a:ext>
            </a:extLst>
          </p:cNvPr>
          <p:cNvSpPr>
            <a:spLocks xmlns:a="http://schemas.openxmlformats.org/drawingml/2006/main" noGrp="1"/>
          </p:cNvSpPr>
          <p:nvPr/>
        </p:nvSpPr>
        <p:spPr>
          <a:xfrm xmlns:a="http://schemas.openxmlformats.org/drawingml/2006/main">
            <a:off x="685800" y="4171950"/>
            <a:ext cx="3048000" cy="76200"/>
          </a:xfrm>
          <a:prstGeom xmlns:a="http://schemas.openxmlformats.org/drawingml/2006/main" prst="rect">
            <a:avLst/>
          </a:prstGeom>
          <a:solidFill xmlns:a="http://schemas.openxmlformats.org/drawingml/2006/main">
            <a:srgbClr val="78D5B8"/>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D0D010B-529C-4CA5-9553-B45540F6290B}"/>
              </a:ext>
            </a:extLst>
          </p:cNvPr>
          <p:cNvSpPr>
            <a:spLocks xmlns:a="http://schemas.openxmlformats.org/drawingml/2006/main" noGrp="1"/>
          </p:cNvSpPr>
          <p:nvPr/>
        </p:nvSpPr>
        <p:spPr>
          <a:xfrm xmlns:a="http://schemas.openxmlformats.org/drawingml/2006/main">
            <a:off x="933450" y="443865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Accessible</a:t>
            </a:r>
          </a:p>
        </p:txBody>
      </p:sp>
      <p:sp>
        <p:nvSpPr>
          <p:cNvPr id="10" name="">
            <a:extLst xmlns:a="http://schemas.openxmlformats.org/drawingml/2006/main">
              <a:ext uri="{FF2B5EF4-FFF2-40B4-BE49-F238E27FC236}">
                <a16:creationId xmlns:a16="http://schemas.microsoft.com/office/drawing/2014/main" id="{6E147F5A-7C1F-4AAD-8E67-1C6E70F7ADB1}"/>
              </a:ext>
            </a:extLst>
          </p:cNvPr>
          <p:cNvSpPr>
            <a:spLocks xmlns:a="http://schemas.openxmlformats.org/drawingml/2006/main" noGrp="1"/>
          </p:cNvSpPr>
          <p:nvPr/>
        </p:nvSpPr>
        <p:spPr>
          <a:xfrm xmlns:a="http://schemas.openxmlformats.org/drawingml/2006/main">
            <a:off x="933450" y="4800600"/>
            <a:ext cx="24574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D6E4E0"/>
                </a:solidFill>
                <a:latin typeface="Aptos"/>
                <a:ea typeface="Aptos"/>
                <a:cs typeface="Aptos"/>
              </a:defRPr>
            </a:pPr>
            <a:r>
              <a:rPr sz="1200" b="0">
                <a:solidFill>
                  <a:srgbClr val="D6E4E0"/>
                </a:solidFill>
                <a:latin typeface="Aptos"/>
                <a:ea typeface="Aptos"/>
                <a:cs typeface="Aptos"/>
              </a:rPr>
              <a:t>Digital support that is easy to reach and simple to use.</a:t>
            </a:r>
          </a:p>
        </p:txBody>
      </p:sp>
      <p:sp>
        <p:nvSpPr>
          <p:cNvPr id="11" name="">
            <a:extLst xmlns:a="http://schemas.openxmlformats.org/drawingml/2006/main">
              <a:ext uri="{FF2B5EF4-FFF2-40B4-BE49-F238E27FC236}">
                <a16:creationId xmlns:a16="http://schemas.microsoft.com/office/drawing/2014/main" id="{D1CBA41E-3868-4483-9DD2-2BFAD9DAA5E2}"/>
              </a:ext>
            </a:extLst>
          </p:cNvPr>
          <p:cNvSpPr>
            <a:spLocks xmlns:a="http://schemas.openxmlformats.org/drawingml/2006/main" noGrp="1"/>
          </p:cNvSpPr>
          <p:nvPr/>
        </p:nvSpPr>
        <p:spPr>
          <a:xfrm xmlns:a="http://schemas.openxmlformats.org/drawingml/2006/main">
            <a:off x="4038600" y="4171950"/>
            <a:ext cx="3048000" cy="1257300"/>
          </a:xfrm>
          <a:prstGeom xmlns:a="http://schemas.openxmlformats.org/drawingml/2006/main" prst="rect">
            <a:avLst/>
          </a:prstGeom>
          <a:solidFill xmlns:a="http://schemas.openxmlformats.org/drawingml/2006/main">
            <a:srgbClr val="16314F"/>
          </a:solidFill>
          <a:ln xmlns:a="http://schemas.openxmlformats.org/drawingml/2006/main" w="9525">
            <a:solidFill>
              <a:srgbClr val="2C4B68"/>
            </a:solidFill>
            <a:prstDash val="solid"/>
          </a:ln>
        </p:spPr>
      </p:sp>
      <p:sp>
        <p:nvSpPr>
          <p:cNvPr id="12" name="">
            <a:extLst xmlns:a="http://schemas.openxmlformats.org/drawingml/2006/main">
              <a:ext uri="{FF2B5EF4-FFF2-40B4-BE49-F238E27FC236}">
                <a16:creationId xmlns:a16="http://schemas.microsoft.com/office/drawing/2014/main" id="{7CE7AAAE-4E75-4487-B0F7-326FEC55494B}"/>
              </a:ext>
            </a:extLst>
          </p:cNvPr>
          <p:cNvSpPr>
            <a:spLocks xmlns:a="http://schemas.openxmlformats.org/drawingml/2006/main" noGrp="1"/>
          </p:cNvSpPr>
          <p:nvPr/>
        </p:nvSpPr>
        <p:spPr>
          <a:xfrm xmlns:a="http://schemas.openxmlformats.org/drawingml/2006/main">
            <a:off x="4038600" y="4171950"/>
            <a:ext cx="3048000" cy="76200"/>
          </a:xfrm>
          <a:prstGeom xmlns:a="http://schemas.openxmlformats.org/drawingml/2006/main" prst="rect">
            <a:avLst/>
          </a:prstGeom>
          <a:solidFill xmlns:a="http://schemas.openxmlformats.org/drawingml/2006/main">
            <a:srgbClr val="F27C68"/>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AD66283A-B35E-4672-9F0A-1F9C7CB23498}"/>
              </a:ext>
            </a:extLst>
          </p:cNvPr>
          <p:cNvSpPr>
            <a:spLocks xmlns:a="http://schemas.openxmlformats.org/drawingml/2006/main" noGrp="1"/>
          </p:cNvSpPr>
          <p:nvPr/>
        </p:nvSpPr>
        <p:spPr>
          <a:xfrm xmlns:a="http://schemas.openxmlformats.org/drawingml/2006/main">
            <a:off x="4286250" y="443865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Personalized</a:t>
            </a:r>
          </a:p>
        </p:txBody>
      </p:sp>
      <p:sp>
        <p:nvSpPr>
          <p:cNvPr id="14" name="">
            <a:extLst xmlns:a="http://schemas.openxmlformats.org/drawingml/2006/main">
              <a:ext uri="{FF2B5EF4-FFF2-40B4-BE49-F238E27FC236}">
                <a16:creationId xmlns:a16="http://schemas.microsoft.com/office/drawing/2014/main" id="{2D452C66-FCD0-4CCC-A564-DFCE279F5753}"/>
              </a:ext>
            </a:extLst>
          </p:cNvPr>
          <p:cNvSpPr>
            <a:spLocks xmlns:a="http://schemas.openxmlformats.org/drawingml/2006/main" noGrp="1"/>
          </p:cNvSpPr>
          <p:nvPr/>
        </p:nvSpPr>
        <p:spPr>
          <a:xfrm xmlns:a="http://schemas.openxmlformats.org/drawingml/2006/main">
            <a:off x="4286250" y="4800600"/>
            <a:ext cx="24574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D6E4E0"/>
                </a:solidFill>
                <a:latin typeface="Aptos"/>
                <a:ea typeface="Aptos"/>
                <a:cs typeface="Aptos"/>
              </a:defRPr>
            </a:pPr>
            <a:r>
              <a:rPr sz="1200" b="0">
                <a:solidFill>
                  <a:srgbClr val="D6E4E0"/>
                </a:solidFill>
                <a:latin typeface="Aptos"/>
                <a:ea typeface="Aptos"/>
                <a:cs typeface="Aptos"/>
              </a:rPr>
              <a:t>Responses and suggestions shaped around user input.</a:t>
            </a:r>
          </a:p>
        </p:txBody>
      </p:sp>
      <p:sp>
        <p:nvSpPr>
          <p:cNvPr id="15" name="">
            <a:extLst xmlns:a="http://schemas.openxmlformats.org/drawingml/2006/main">
              <a:ext uri="{FF2B5EF4-FFF2-40B4-BE49-F238E27FC236}">
                <a16:creationId xmlns:a16="http://schemas.microsoft.com/office/drawing/2014/main" id="{C7D09104-8D7D-45B0-9198-26B245079DF5}"/>
              </a:ext>
            </a:extLst>
          </p:cNvPr>
          <p:cNvSpPr>
            <a:spLocks xmlns:a="http://schemas.openxmlformats.org/drawingml/2006/main" noGrp="1"/>
          </p:cNvSpPr>
          <p:nvPr/>
        </p:nvSpPr>
        <p:spPr>
          <a:xfrm xmlns:a="http://schemas.openxmlformats.org/drawingml/2006/main">
            <a:off x="7391400" y="4171950"/>
            <a:ext cx="3048000" cy="1257300"/>
          </a:xfrm>
          <a:prstGeom xmlns:a="http://schemas.openxmlformats.org/drawingml/2006/main" prst="rect">
            <a:avLst/>
          </a:prstGeom>
          <a:solidFill xmlns:a="http://schemas.openxmlformats.org/drawingml/2006/main">
            <a:srgbClr val="16314F"/>
          </a:solidFill>
          <a:ln xmlns:a="http://schemas.openxmlformats.org/drawingml/2006/main" w="9525">
            <a:solidFill>
              <a:srgbClr val="2C4B68"/>
            </a:solidFill>
            <a:prstDash val="solid"/>
          </a:ln>
        </p:spPr>
      </p:sp>
      <p:sp>
        <p:nvSpPr>
          <p:cNvPr id="16" name="">
            <a:extLst xmlns:a="http://schemas.openxmlformats.org/drawingml/2006/main">
              <a:ext uri="{FF2B5EF4-FFF2-40B4-BE49-F238E27FC236}">
                <a16:creationId xmlns:a16="http://schemas.microsoft.com/office/drawing/2014/main" id="{AB3D4208-E50C-4205-9AED-6EF436281B00}"/>
              </a:ext>
            </a:extLst>
          </p:cNvPr>
          <p:cNvSpPr>
            <a:spLocks xmlns:a="http://schemas.openxmlformats.org/drawingml/2006/main" noGrp="1"/>
          </p:cNvSpPr>
          <p:nvPr/>
        </p:nvSpPr>
        <p:spPr>
          <a:xfrm xmlns:a="http://schemas.openxmlformats.org/drawingml/2006/main">
            <a:off x="7391400" y="4171950"/>
            <a:ext cx="3048000" cy="76200"/>
          </a:xfrm>
          <a:prstGeom xmlns:a="http://schemas.openxmlformats.org/drawingml/2006/main" prst="rect">
            <a:avLst/>
          </a:prstGeom>
          <a:solidFill xmlns:a="http://schemas.openxmlformats.org/drawingml/2006/main">
            <a:srgbClr val="F3D36B"/>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93B4B9BB-0E13-457E-B279-3279EBAF9104}"/>
              </a:ext>
            </a:extLst>
          </p:cNvPr>
          <p:cNvSpPr>
            <a:spLocks xmlns:a="http://schemas.openxmlformats.org/drawingml/2006/main" noGrp="1"/>
          </p:cNvSpPr>
          <p:nvPr/>
        </p:nvSpPr>
        <p:spPr>
          <a:xfrm xmlns:a="http://schemas.openxmlformats.org/drawingml/2006/main">
            <a:off x="7639050" y="4438650"/>
            <a:ext cx="2381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Responsible</a:t>
            </a:r>
          </a:p>
        </p:txBody>
      </p:sp>
      <p:sp>
        <p:nvSpPr>
          <p:cNvPr id="18" name="">
            <a:extLst xmlns:a="http://schemas.openxmlformats.org/drawingml/2006/main">
              <a:ext uri="{FF2B5EF4-FFF2-40B4-BE49-F238E27FC236}">
                <a16:creationId xmlns:a16="http://schemas.microsoft.com/office/drawing/2014/main" id="{8F34C382-BADC-435A-8918-20A87D6F951C}"/>
              </a:ext>
            </a:extLst>
          </p:cNvPr>
          <p:cNvSpPr>
            <a:spLocks xmlns:a="http://schemas.openxmlformats.org/drawingml/2006/main" noGrp="1"/>
          </p:cNvSpPr>
          <p:nvPr/>
        </p:nvSpPr>
        <p:spPr>
          <a:xfrm xmlns:a="http://schemas.openxmlformats.org/drawingml/2006/main">
            <a:off x="7639050" y="4800600"/>
            <a:ext cx="24574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D6E4E0"/>
                </a:solidFill>
                <a:latin typeface="Aptos"/>
                <a:ea typeface="Aptos"/>
                <a:cs typeface="Aptos"/>
              </a:defRPr>
            </a:pPr>
            <a:r>
              <a:rPr sz="1200" b="0">
                <a:solidFill>
                  <a:srgbClr val="D6E4E0"/>
                </a:solidFill>
                <a:latin typeface="Aptos"/>
                <a:ea typeface="Aptos"/>
                <a:cs typeface="Aptos"/>
              </a:rPr>
              <a:t>A support tool that does not replace expert medical care.</a:t>
            </a:r>
          </a:p>
        </p:txBody>
      </p:sp>
      <p:sp>
        <p:nvSpPr>
          <p:cNvPr id="19" name="">
            <a:extLst xmlns:a="http://schemas.openxmlformats.org/drawingml/2006/main">
              <a:ext uri="{FF2B5EF4-FFF2-40B4-BE49-F238E27FC236}">
                <a16:creationId xmlns:a16="http://schemas.microsoft.com/office/drawing/2014/main" id="{C8A24946-344A-4216-81D1-72F814C3DE3A}"/>
              </a:ext>
            </a:extLst>
          </p:cNvPr>
          <p:cNvSpPr>
            <a:spLocks xmlns:a="http://schemas.openxmlformats.org/drawingml/2006/main" noGrp="1"/>
          </p:cNvSpPr>
          <p:nvPr/>
        </p:nvSpPr>
        <p:spPr>
          <a:xfrm xmlns:a="http://schemas.openxmlformats.org/drawingml/2006/main">
            <a:off x="8420100" y="1466850"/>
            <a:ext cx="2000250" cy="2000250"/>
          </a:xfrm>
          <a:prstGeom xmlns:a="http://schemas.openxmlformats.org/drawingml/2006/main" prst="ellipse">
            <a:avLst/>
          </a:prstGeom>
          <a:solidFill xmlns:a="http://schemas.openxmlformats.org/drawingml/2006/main">
            <a:srgbClr val="78D5B8"/>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FBD48FE9-8148-47D8-B0B0-B3085035DBC5}"/>
              </a:ext>
            </a:extLst>
          </p:cNvPr>
          <p:cNvSpPr>
            <a:spLocks xmlns:a="http://schemas.openxmlformats.org/drawingml/2006/main" noGrp="1"/>
          </p:cNvSpPr>
          <p:nvPr/>
        </p:nvSpPr>
        <p:spPr>
          <a:xfrm xmlns:a="http://schemas.openxmlformats.org/drawingml/2006/main">
            <a:off x="8972550" y="2019300"/>
            <a:ext cx="895350" cy="895350"/>
          </a:xfrm>
          <a:prstGeom xmlns:a="http://schemas.openxmlformats.org/drawingml/2006/main" prst="ellipse">
            <a:avLst/>
          </a:prstGeom>
          <a:solidFill xmlns:a="http://schemas.openxmlformats.org/drawingml/2006/main">
            <a:srgbClr val="10213D"/>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14D8DB0-2A81-4327-A248-94358BA7A738}"/>
              </a:ext>
            </a:extLst>
          </p:cNvPr>
          <p:cNvSpPr>
            <a:spLocks xmlns:a="http://schemas.openxmlformats.org/drawingml/2006/main" noGrp="1"/>
          </p:cNvSpPr>
          <p:nvPr/>
        </p:nvSpPr>
        <p:spPr>
          <a:xfrm xmlns:a="http://schemas.openxmlformats.org/drawingml/2006/main">
            <a:off x="9229725" y="2276475"/>
            <a:ext cx="381000" cy="381000"/>
          </a:xfrm>
          <a:prstGeom xmlns:a="http://schemas.openxmlformats.org/drawingml/2006/main" prst="ellipse">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2DFD8804-9DDA-46E1-BFB8-D8C0A93306FB}"/>
              </a:ext>
            </a:extLst>
          </p:cNvPr>
          <p:cNvSpPr>
            <a:spLocks xmlns:a="http://schemas.openxmlformats.org/drawingml/2006/main" noGrp="1"/>
          </p:cNvSpPr>
          <p:nvPr/>
        </p:nvSpPr>
        <p:spPr>
          <a:xfrm xmlns:a="http://schemas.openxmlformats.org/drawingml/2006/main">
            <a:off x="10153650" y="3219450"/>
            <a:ext cx="704850" cy="704850"/>
          </a:xfrm>
          <a:prstGeom xmlns:a="http://schemas.openxmlformats.org/drawingml/2006/main" prst="ellipse">
            <a:avLst/>
          </a:prstGeom>
          <a:solidFill xmlns:a="http://schemas.openxmlformats.org/drawingml/2006/main">
            <a:srgbClr val="F27C6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F36A2FCC-B2E8-43FF-8601-33157E80B170}"/>
              </a:ext>
            </a:extLst>
          </p:cNvPr>
          <p:cNvSpPr>
            <a:spLocks xmlns:a="http://schemas.openxmlformats.org/drawingml/2006/main" noGrp="1"/>
          </p:cNvSpPr>
          <p:nvPr/>
        </p:nvSpPr>
        <p:spPr>
          <a:xfrm xmlns:a="http://schemas.openxmlformats.org/drawingml/2006/main">
            <a:off x="8305800" y="3371850"/>
            <a:ext cx="552450" cy="552450"/>
          </a:xfrm>
          <a:prstGeom xmlns:a="http://schemas.openxmlformats.org/drawingml/2006/main" prst="ellipse">
            <a:avLst/>
          </a:prstGeom>
          <a:solidFill xmlns:a="http://schemas.openxmlformats.org/drawingml/2006/main">
            <a:srgbClr val="5267D8"/>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9EF5B900-06C4-43BE-B2F1-E10294B141E5}"/>
              </a:ext>
            </a:extLst>
          </p:cNvPr>
          <p:cNvSpPr>
            <a:spLocks xmlns:a="http://schemas.openxmlformats.org/drawingml/2006/main" noGrp="1"/>
          </p:cNvSpPr>
          <p:nvPr/>
        </p:nvSpPr>
        <p:spPr>
          <a:xfrm xmlns:a="http://schemas.openxmlformats.org/drawingml/2006/main">
            <a:off x="10782300" y="6115050"/>
            <a:ext cx="304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A7B7C5"/>
                </a:solidFill>
                <a:latin typeface="Aptos"/>
                <a:ea typeface="Aptos"/>
                <a:cs typeface="Aptos"/>
              </a:defRPr>
            </a:pPr>
            <a:r>
              <a:rPr sz="900" b="0">
                <a:solidFill>
                  <a:srgbClr val="A7B7C5"/>
                </a:solidFill>
                <a:latin typeface="Aptos"/>
                <a:ea typeface="Aptos"/>
                <a:cs typeface="Aptos"/>
              </a:rPr>
              <a:t>03</a:t>
            </a:r>
          </a:p>
        </p:txBody>
      </p:sp>
    </p:spTree>
    <p:extLst>
      <p:ext uri="{BB962C8B-B14F-4D97-AF65-F5344CB8AC3E}">
        <p14:creationId xmlns:p14="http://schemas.microsoft.com/office/powerpoint/2010/main" val="13515790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2026-05-20T04:55:03.5440000Z</dcterms:created>
  <dcterms:modified xsi:type="dcterms:W3CDTF">2026-05-20T04:55:03.5440000Z</dcterms:modified>
</coreProperties>
</file>